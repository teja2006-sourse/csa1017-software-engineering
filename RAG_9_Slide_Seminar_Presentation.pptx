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D"/>
                </a:solidFill>
              </a:defRPr>
            </a:pPr>
            <a:r>
              <a:t>Retrieval-Augmented Generation (RAG)</a:t>
            </a:r>
          </a:p>
          <a:p>
            <a:pPr>
              <a:defRPr sz="2400">
                <a:solidFill>
                  <a:srgbClr val="B9DCEB"/>
                </a:solidFill>
              </a:defRPr>
            </a:pPr>
            <a:r>
              <a:t>Seminar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58179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D"/>
                </a:solidFill>
              </a:defRPr>
            </a:pPr>
            <a:r>
              <a:rPr dirty="0"/>
              <a:t>Grounding Large Language Models with External Knowledge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F3F69-959A-4C24-8C65-6702A66B3A11}"/>
              </a:ext>
            </a:extLst>
          </p:cNvPr>
          <p:cNvSpPr txBox="1"/>
          <p:nvPr/>
        </p:nvSpPr>
        <p:spPr>
          <a:xfrm>
            <a:off x="7688826" y="5279320"/>
            <a:ext cx="4593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Surya Krishna Teja Yandra(192425065)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869E8-14FC-4BAB-4356-B4BB738889E1}"/>
              </a:ext>
            </a:extLst>
          </p:cNvPr>
          <p:cNvSpPr txBox="1"/>
          <p:nvPr/>
        </p:nvSpPr>
        <p:spPr>
          <a:xfrm>
            <a:off x="3372465" y="2891668"/>
            <a:ext cx="5722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CSA1017 – SOFTWARE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D4A66-FCDF-DC0C-A282-C107BD241902}"/>
              </a:ext>
            </a:extLst>
          </p:cNvPr>
          <p:cNvSpPr txBox="1"/>
          <p:nvPr/>
        </p:nvSpPr>
        <p:spPr>
          <a:xfrm>
            <a:off x="1101213" y="5279320"/>
            <a:ext cx="1740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R. Latha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1667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Introduction to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62D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stands for Retrieval-Augmented Generation.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62D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AI search with Large Language Models (LLMs).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62D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retrieves information from external sources.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62D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uses this information to generate answers.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62D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provides more relevant and updated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359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Need and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Knowledge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30632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LLMs may not contain proprietary or newly created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2900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874519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057400"/>
            <a:ext cx="30632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Generated answers can sound convincing even when unsupported.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42900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5819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Fresh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057400"/>
            <a:ext cx="30632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External sources can be updated without retraining the LLM.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42900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73152" cy="1874519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822191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Enterprise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97680"/>
            <a:ext cx="30632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Organizations need answers from PDFs, manuals, databases and internal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42900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65760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3822191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297680"/>
            <a:ext cx="30632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Retrieved passages can provide evidence and citations for answers.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9870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Working Principle 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Embeddings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Vector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User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977639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3977639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977639"/>
            <a:ext cx="1828800" cy="868680"/>
          </a:xfrm>
          <a:prstGeom prst="roundRect">
            <a:avLst/>
          </a:prstGeom>
          <a:solidFill>
            <a:srgbClr val="F8FBFF"/>
          </a:solidFill>
          <a:ln>
            <a:solidFill>
              <a:srgbClr val="2A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F35"/>
                </a:solidFill>
              </a:defRPr>
            </a:pPr>
            <a:r>
              <a:t>Answer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267712"/>
            <a:ext cx="274320" cy="0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267712"/>
            <a:ext cx="274320" cy="0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77639" y="2743200"/>
            <a:ext cx="1783081" cy="1234439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68880" y="4416552"/>
            <a:ext cx="594360" cy="0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92040" y="4416552"/>
            <a:ext cx="594360" cy="0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4416552"/>
            <a:ext cx="594360" cy="0"/>
          </a:xfrm>
          <a:prstGeom prst="line">
            <a:avLst/>
          </a:prstGeom>
          <a:ln w="25400">
            <a:solidFill>
              <a:srgbClr val="2A6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4406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2D37"/>
                </a:solidFill>
              </a:defRPr>
            </a:pPr>
            <a:r>
              <a:t>Documents → Embeddings → Vector Database   |   User Query → Retrieval → LLM →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390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Key Components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4767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PDFs, websites, reports and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874519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Divides large documents into small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2588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32588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472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94767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Converts text into numerical vectors.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566160"/>
            <a:ext cx="73152" cy="1874519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7124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Vector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18795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Stores and searches vectors.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56616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566160"/>
            <a:ext cx="73152" cy="1874519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7124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Retriever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18795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Finds relevant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66160"/>
            <a:ext cx="3474720" cy="1874519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566160"/>
            <a:ext cx="73152" cy="1874519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8" y="37124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187952"/>
            <a:ext cx="3108960" cy="1142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Generates the final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5684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Applications /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– student question-answering systems.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– medical information assistants.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– financial and policy document search.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– automated support systems.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– code and documentation search.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– internal company knowledge assistants.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– searching large document collections.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2991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Advantages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6362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• Provides updated information</a:t>
            </a:r>
            <a:br/>
            <a:r>
              <a:t>• Reduces hallucinations</a:t>
            </a:r>
            <a:br/>
            <a:r>
              <a:t>• Uses private company data</a:t>
            </a:r>
            <a:br/>
            <a:r>
              <a:t>• No frequent model retraining</a:t>
            </a:r>
            <a:br/>
            <a:r>
              <a:t>• Gives relevant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448056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56362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039112"/>
            <a:ext cx="48463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• Poor retrieval can give poor answers</a:t>
            </a:r>
            <a:br/>
            <a:r>
              <a:t>• Requires good-quality data</a:t>
            </a:r>
            <a:br/>
            <a:r>
              <a:t>• Can increase response time</a:t>
            </a:r>
            <a:br/>
            <a:r>
              <a:t>• Needs computing resources</a:t>
            </a:r>
            <a:br/>
            <a:r>
              <a:t>• Security and privacy must be managed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1642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Recent Developments and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RAG – combines keyword and vector search.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RAG – AI agents perform multiple searches.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RAG – works with text, images and other data.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relationships between information.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Self-correcting RAG – checks and improves retrieval.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62D3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systems are becoming faster and more efficient.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74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Challenges, Future Scope &amp;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4526280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45262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264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01952"/>
            <a:ext cx="32004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• Retrieval accuracy</a:t>
            </a:r>
            <a:br/>
            <a:r>
              <a:t>• Data privacy</a:t>
            </a:r>
            <a:br/>
            <a:r>
              <a:t>• Processing cost</a:t>
            </a:r>
            <a:br/>
            <a:r>
              <a:t>• Response latency</a:t>
            </a:r>
            <a:br/>
            <a:r>
              <a:t>• Answer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280160"/>
            <a:ext cx="3566160" cy="4526280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1280160"/>
            <a:ext cx="73152" cy="4526280"/>
          </a:xfrm>
          <a:prstGeom prst="rect">
            <a:avLst/>
          </a:prstGeom>
          <a:solidFill>
            <a:srgbClr val="37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6" y="14264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901952"/>
            <a:ext cx="32004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• Intelligent AI agents</a:t>
            </a:r>
            <a:br/>
            <a:r>
              <a:t>• Real-time retrieval</a:t>
            </a:r>
            <a:br/>
            <a:r>
              <a:t>• Multimodal RAG</a:t>
            </a:r>
            <a:br/>
            <a:r>
              <a:t>• Personalized assistants</a:t>
            </a:r>
            <a:br/>
            <a:r>
              <a:t>• Better security and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280160"/>
            <a:ext cx="3566160" cy="4526280"/>
          </a:xfrm>
          <a:prstGeom prst="roundRect">
            <a:avLst/>
          </a:prstGeom>
          <a:solidFill>
            <a:srgbClr val="FAFCFF"/>
          </a:solidFill>
          <a:ln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83296" y="1280160"/>
            <a:ext cx="73152" cy="4526280"/>
          </a:xfrm>
          <a:prstGeom prst="rect">
            <a:avLst/>
          </a:prstGeom>
          <a:solidFill>
            <a:srgbClr val="2A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1426463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5"/>
                </a:solidFill>
              </a:defRPr>
            </a:pPr>
            <a:r>
              <a:t>Case Study: University AI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901952"/>
            <a:ext cx="32004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62D37"/>
                </a:solidFill>
              </a:defRPr>
            </a:pPr>
            <a:r>
              <a:t>• Stores syllabus and notes</a:t>
            </a:r>
            <a:br/>
            <a:r>
              <a:t>• Student asks a question</a:t>
            </a:r>
            <a:br/>
            <a:r>
              <a:t>• RAG finds relevant documents</a:t>
            </a:r>
            <a:br/>
            <a:r>
              <a:t>• LLM generates the answer</a:t>
            </a:r>
            <a:br/>
            <a:r>
              <a:t>• Can provide source-based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25312"/>
            <a:ext cx="11109960" cy="384048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D"/>
                </a:solidFill>
              </a:defRPr>
            </a:pPr>
            <a:r>
              <a:t>Conclusion: RAG connects LLMs with external knowledge to deliver relevant, updated and grounded answers.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76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97380"/>
                </a:solidFill>
              </a:defRPr>
            </a:pPr>
            <a:r>
              <a:t>References: Lewis et al. (2020) – RAG for Knowledge-Intensive NLP; NVIDIA RAG resources; FAISS &amp; ChromaDB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8069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connects LLMs with external knowledge to produce more relevant and grounded responses.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effectiveness depends on the complete pipeline: data quality, chunking, embeddings, retrieval, reranking and generation.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is highly suitable for enterprise and domain-specific applications where knowledge changes frequently.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field is moving toward hybrid, multimodal, graph-based and agentic RAG systems.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A3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RAG systems will emphasize reliability, provenance, security, evaluation, low latency and cost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607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krishna teja yandra</cp:lastModifiedBy>
  <cp:revision>4</cp:revision>
  <dcterms:created xsi:type="dcterms:W3CDTF">2013-01-27T09:14:16Z</dcterms:created>
  <dcterms:modified xsi:type="dcterms:W3CDTF">2026-08-25T09:13:41Z</dcterms:modified>
  <cp:category/>
</cp:coreProperties>
</file>